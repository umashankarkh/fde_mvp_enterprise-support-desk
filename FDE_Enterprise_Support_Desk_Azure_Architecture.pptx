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9eb89344-3b5d-12f4-71f3-85a7c54dcc91}">
          <p14:sldIdLst>
            <p14:sldId id="256"/>
            <p14:sldId id="257"/>
            <p14:sldId id="258"/>
          </p14:sldIdLst>
        </p14:section>
        <p14:section name="Architecture" id="{a787c3d5-910e-3acf-a348-4d22d1da14a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oduction" id="{517a150f-9c47-8f95-eb1f-4ddba6496427}">
          <p14:sldIdLst>
            <p14:sldId id="265"/>
            <p14:sldId id="266"/>
            <p14:sldId id="267"/>
            <p14:sldId id="268"/>
          </p14:sldIdLst>
        </p14:section>
        <p14:section name="Wrap-up" id="{70c27cad-a93a-84ad-c79a-56818e16fc8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by the end they can draw this three-layer architecture for their own use case and say which Azure service sits in each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brief in one sentence. Ask learners which of the three pains they see in their own workplace.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steps, then the two exits. This is the MVP scope: everything else in the deck exists to make these two paths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diagram. Each band is one layer; the chips are the Azure services. Stress that the bottom band cuts across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1 is thin on purpose. The less logic here, the easier it is to swap the UI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which agents need a model at all. This is the 'is it really an agent' conversation from the design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and visibility. Two views of cost: the app's own tracer and Azure's billing. Neither replaces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loop-engineering slide. Agents never call each other: they change status and the orchestrator routes. Guardrails are enforced in code, not trusted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detail with AWS equivalents is in the reference note. Point out that relational DB is listed for completeness but this build needs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right-hand column. An MVP on production-grade services is not yet a production system; the gap is a checklist you can show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matters: nothing to trace until something runs, and tracing comes last. Each step ends with something that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incidents from this build. Each maps to a design-session idea: failure isolation, contracts, and honest error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estimated cost is computed in kernel_setup.py from token usage and a price table in config.py. It covers LLM calls only; Azure bills everything else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exercise: they bring a three-layer drawing for their own use case to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FDE Academy  |  Enterprise Support Desk on Azure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FDE Academy  |  Enterprise Support Desk on Azure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From MVP to production on Azure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the Enterprise Support &amp; Ticket Resolution Agent is built: problem, components and a three-layer architecture</a:t>
            </a:r>
            <a:endParaRPr lang="en-US" sz="1800" dirty="0"/>
          </a:p>
        </p:txBody>
      </p:sp>
      <p:sp>
        <p:nvSpPr>
          <p:cNvPr id="4" name="byline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Trainer: Umashankar K H   |   Client: FDE Academy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problem we were given</a:t>
            </a:r>
            <a:endParaRPr lang="en-US" sz="2800" dirty="0"/>
          </a:p>
        </p:txBody>
      </p:sp>
      <p:sp>
        <p:nvSpPr>
          <p:cNvPr id="3" name="statement-card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ement"/>
          <p:cNvSpPr txBox="1"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 teams answer the same issues again and again, route tickets by hand, and cannot show what an automated answer costs or whether it was safe to send.</a:t>
            </a:r>
            <a:endParaRPr lang="en-US" sz="1600" dirty="0"/>
          </a:p>
        </p:txBody>
      </p:sp>
      <p:sp>
        <p:nvSpPr>
          <p:cNvPr id="5" name="pain-card-0"/>
          <p:cNvSpPr/>
          <p:nvPr/>
        </p:nvSpPr>
        <p:spPr>
          <a:xfrm>
            <a:off x="457200" y="214884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bg-users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4003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Repeat issues eat time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Camera, VPN, password reset and a few dozen more cover most tickets.</a:t>
            </a:r>
            <a:endParaRPr lang="en-US" sz="1200" dirty="0"/>
          </a:p>
        </p:txBody>
      </p:sp>
      <p:sp>
        <p:nvSpPr>
          <p:cNvPr id="10" name="pain-card-1"/>
          <p:cNvSpPr/>
          <p:nvPr/>
        </p:nvSpPr>
        <p:spPr>
          <a:xfrm>
            <a:off x="3291840" y="214884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redo"/>
          <p:cNvSpPr/>
          <p:nvPr/>
        </p:nvSpPr>
        <p:spPr>
          <a:xfrm>
            <a:off x="3474720" y="2286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redo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4003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Routing is manual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Someone reads each ticket, guesses the team, and forwards it.</a:t>
            </a:r>
            <a:endParaRPr lang="en-US" sz="1200" dirty="0"/>
          </a:p>
        </p:txBody>
      </p:sp>
      <p:sp>
        <p:nvSpPr>
          <p:cNvPr id="15" name="pain-card-2"/>
          <p:cNvSpPr/>
          <p:nvPr/>
        </p:nvSpPr>
        <p:spPr>
          <a:xfrm>
            <a:off x="6126480" y="214884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shield"/>
          <p:cNvSpPr/>
          <p:nvPr/>
        </p:nvSpPr>
        <p:spPr>
          <a:xfrm>
            <a:off x="6309360" y="22860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mage 2" descr="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4003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80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proof of safety or cost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fast answer is worthless if it refunds money without a check.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794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109728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channels: chat, email, Slack, call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2560320" y="3794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14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320040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knowledge base articles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663440" y="3794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530352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agents, one orchestrator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766560" y="3794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shared TicketState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ticket, end to end</a:t>
            </a:r>
            <a:endParaRPr lang="en-US" sz="2800" dirty="0"/>
          </a:p>
        </p:txBody>
      </p:sp>
      <p:sp>
        <p:nvSpPr>
          <p:cNvPr id="3" name="flow-card-0"/>
          <p:cNvSpPr/>
          <p:nvPr/>
        </p:nvSpPr>
        <p:spPr>
          <a:xfrm>
            <a:off x="457200" y="114300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-num-0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Customer writes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chat or email</a:t>
            </a:r>
            <a:endParaRPr lang="en-US" sz="1100" dirty="0"/>
          </a:p>
        </p:txBody>
      </p:sp>
      <p:sp>
        <p:nvSpPr>
          <p:cNvPr id="8" name="flow-card-1"/>
          <p:cNvSpPr/>
          <p:nvPr/>
        </p:nvSpPr>
        <p:spPr>
          <a:xfrm>
            <a:off x="1847088" y="114300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low-num-1"/>
          <p:cNvSpPr/>
          <p:nvPr/>
        </p:nvSpPr>
        <p:spPr>
          <a:xfrm>
            <a:off x="1938528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38528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Sign 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Entra ID</a:t>
            </a:r>
            <a:endParaRPr lang="en-US" sz="1100" dirty="0"/>
          </a:p>
        </p:txBody>
      </p:sp>
      <p:sp>
        <p:nvSpPr>
          <p:cNvPr id="13" name="flow-card-2"/>
          <p:cNvSpPr/>
          <p:nvPr/>
        </p:nvSpPr>
        <p:spPr>
          <a:xfrm>
            <a:off x="3236976" y="114300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low-num-2"/>
          <p:cNvSpPr/>
          <p:nvPr/>
        </p:nvSpPr>
        <p:spPr>
          <a:xfrm>
            <a:off x="3328416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8416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28416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Agents reason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 steps, one trace</a:t>
            </a:r>
            <a:endParaRPr lang="en-US" sz="1100" dirty="0"/>
          </a:p>
        </p:txBody>
      </p:sp>
      <p:sp>
        <p:nvSpPr>
          <p:cNvPr id="18" name="flow-card-3"/>
          <p:cNvSpPr/>
          <p:nvPr/>
        </p:nvSpPr>
        <p:spPr>
          <a:xfrm>
            <a:off x="4626864" y="114300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low-num-3"/>
          <p:cNvSpPr/>
          <p:nvPr/>
        </p:nvSpPr>
        <p:spPr>
          <a:xfrm>
            <a:off x="4718304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18304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Confidence check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Critic and guardrails</a:t>
            </a:r>
            <a:endParaRPr lang="en-US" sz="1100" dirty="0"/>
          </a:p>
        </p:txBody>
      </p:sp>
      <p:sp>
        <p:nvSpPr>
          <p:cNvPr id="23" name="flow-card-4"/>
          <p:cNvSpPr/>
          <p:nvPr/>
        </p:nvSpPr>
        <p:spPr>
          <a:xfrm>
            <a:off x="6016752" y="114300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low-num-4"/>
          <p:cNvSpPr/>
          <p:nvPr/>
        </p:nvSpPr>
        <p:spPr>
          <a:xfrm>
            <a:off x="6108192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08192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08192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Action fires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or human approves</a:t>
            </a:r>
            <a:endParaRPr lang="en-US" sz="1100" dirty="0"/>
          </a:p>
        </p:txBody>
      </p:sp>
      <p:sp>
        <p:nvSpPr>
          <p:cNvPr id="28" name="flow-card-5"/>
          <p:cNvSpPr/>
          <p:nvPr/>
        </p:nvSpPr>
        <p:spPr>
          <a:xfrm>
            <a:off x="7406640" y="114300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low-num-5"/>
          <p:cNvSpPr/>
          <p:nvPr/>
        </p:nvSpPr>
        <p:spPr>
          <a:xfrm>
            <a:off x="7498080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updates live</a:t>
            </a:r>
            <a:endParaRPr lang="en-US" sz="1100" dirty="0"/>
          </a:p>
        </p:txBody>
      </p:sp>
      <p:sp>
        <p:nvSpPr>
          <p:cNvPr id="33" name="path-auto"/>
          <p:cNvSpPr/>
          <p:nvPr/>
        </p:nvSpPr>
        <p:spPr>
          <a:xfrm>
            <a:off x="457200" y="26974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con-bg-bolt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0" descr="bo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948940"/>
            <a:ext cx="228600" cy="22860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2344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confidence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Critic approves and no guardrail fires, so the ticket auto-resolves and the Action Agent runs straight away.</a:t>
            </a:r>
            <a:endParaRPr lang="en-US" sz="1300" dirty="0"/>
          </a:p>
        </p:txBody>
      </p:sp>
      <p:sp>
        <p:nvSpPr>
          <p:cNvPr id="38" name="path-human"/>
          <p:cNvSpPr/>
          <p:nvPr/>
        </p:nvSpPr>
        <p:spPr>
          <a:xfrm>
            <a:off x="4663440" y="26974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icon-bg-users"/>
          <p:cNvSpPr/>
          <p:nvPr/>
        </p:nvSpPr>
        <p:spPr>
          <a:xfrm>
            <a:off x="4846320" y="2834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Image 1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2948940"/>
            <a:ext cx="228600" cy="22860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4406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 confidence or a guardrail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484632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ticket waits in the human approval queue. A person approves or rejects, and only then does the action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layers, all on Azure</a:t>
            </a:r>
            <a:endParaRPr lang="en-US" sz="2800" dirty="0"/>
          </a:p>
        </p:txBody>
      </p:sp>
      <p:sp>
        <p:nvSpPr>
          <p:cNvPr id="3" name="band-0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nd-label-0"/>
          <p:cNvSpPr/>
          <p:nvPr/>
        </p:nvSpPr>
        <p:spPr>
          <a:xfrm>
            <a:off x="457200" y="10972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 Experience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27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How people reach it</a:t>
            </a:r>
            <a:endParaRPr lang="en-US" sz="1100" dirty="0"/>
          </a:p>
        </p:txBody>
      </p:sp>
      <p:sp>
        <p:nvSpPr>
          <p:cNvPr id="7" name="chip-0-0"/>
          <p:cNvSpPr/>
          <p:nvPr/>
        </p:nvSpPr>
        <p:spPr>
          <a:xfrm>
            <a:off x="251460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7752" y="128016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React on Static Web Apps</a:t>
            </a:r>
            <a:endParaRPr lang="en-US" sz="1200" dirty="0"/>
          </a:p>
        </p:txBody>
      </p:sp>
      <p:sp>
        <p:nvSpPr>
          <p:cNvPr id="9" name="chip-0-1"/>
          <p:cNvSpPr/>
          <p:nvPr/>
        </p:nvSpPr>
        <p:spPr>
          <a:xfrm>
            <a:off x="406908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42232" y="128016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Entra ID sign-in (MSAL)</a:t>
            </a:r>
            <a:endParaRPr lang="en-US" sz="1200" dirty="0"/>
          </a:p>
        </p:txBody>
      </p:sp>
      <p:sp>
        <p:nvSpPr>
          <p:cNvPr id="11" name="chip-0-2"/>
          <p:cNvSpPr/>
          <p:nvPr/>
        </p:nvSpPr>
        <p:spPr>
          <a:xfrm>
            <a:off x="562356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96712" y="128016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Logic Apps email intake</a:t>
            </a:r>
            <a:endParaRPr lang="en-US" sz="1200" dirty="0"/>
          </a:p>
        </p:txBody>
      </p:sp>
      <p:sp>
        <p:nvSpPr>
          <p:cNvPr id="13" name="chip-0-3"/>
          <p:cNvSpPr/>
          <p:nvPr/>
        </p:nvSpPr>
        <p:spPr>
          <a:xfrm>
            <a:off x="717804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1192" y="128016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Chat, email, Slack, call</a:t>
            </a:r>
            <a:endParaRPr lang="en-US" sz="1200" dirty="0"/>
          </a:p>
        </p:txBody>
      </p:sp>
      <p:sp>
        <p:nvSpPr>
          <p:cNvPr id="15" name="band-1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nd-label-1"/>
          <p:cNvSpPr/>
          <p:nvPr/>
        </p:nvSpPr>
        <p:spPr>
          <a:xfrm>
            <a:off x="45720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 Intelligence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7249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Where the work happens</a:t>
            </a:r>
            <a:endParaRPr lang="en-US" sz="1100" dirty="0"/>
          </a:p>
        </p:txBody>
      </p:sp>
      <p:sp>
        <p:nvSpPr>
          <p:cNvPr id="19" name="chip-1-0"/>
          <p:cNvSpPr/>
          <p:nvPr/>
        </p:nvSpPr>
        <p:spPr>
          <a:xfrm>
            <a:off x="2514600" y="237744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87752" y="237744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Container Apps running FastAPI</a:t>
            </a:r>
            <a:endParaRPr lang="en-US" sz="1200" dirty="0"/>
          </a:p>
        </p:txBody>
      </p:sp>
      <p:sp>
        <p:nvSpPr>
          <p:cNvPr id="21" name="chip-1-1"/>
          <p:cNvSpPr/>
          <p:nvPr/>
        </p:nvSpPr>
        <p:spPr>
          <a:xfrm>
            <a:off x="4069080" y="237744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42232" y="237744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Orchestrator and 7 agents</a:t>
            </a:r>
            <a:endParaRPr lang="en-US" sz="1200" dirty="0"/>
          </a:p>
        </p:txBody>
      </p:sp>
      <p:sp>
        <p:nvSpPr>
          <p:cNvPr id="23" name="chip-1-2"/>
          <p:cNvSpPr/>
          <p:nvPr/>
        </p:nvSpPr>
        <p:spPr>
          <a:xfrm>
            <a:off x="5623560" y="237744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237744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Azure OpenAI mini and flagship</a:t>
            </a:r>
            <a:endParaRPr lang="en-US" sz="1200" dirty="0"/>
          </a:p>
        </p:txBody>
      </p:sp>
      <p:sp>
        <p:nvSpPr>
          <p:cNvPr id="25" name="chip-1-3"/>
          <p:cNvSpPr/>
          <p:nvPr/>
        </p:nvSpPr>
        <p:spPr>
          <a:xfrm>
            <a:off x="7178040" y="237744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1192" y="237744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Search for RAG</a:t>
            </a:r>
            <a:endParaRPr lang="en-US" sz="1200" dirty="0"/>
          </a:p>
        </p:txBody>
      </p:sp>
      <p:sp>
        <p:nvSpPr>
          <p:cNvPr id="27" name="band-2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nd-label-2"/>
          <p:cNvSpPr/>
          <p:nvPr/>
        </p:nvSpPr>
        <p:spPr>
          <a:xfrm>
            <a:off x="457200" y="329184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 Data and ops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822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What it remembers and shows</a:t>
            </a:r>
            <a:endParaRPr lang="en-US" sz="1100" dirty="0"/>
          </a:p>
        </p:txBody>
      </p:sp>
      <p:sp>
        <p:nvSpPr>
          <p:cNvPr id="31" name="chip-2-0"/>
          <p:cNvSpPr/>
          <p:nvPr/>
        </p:nvSpPr>
        <p:spPr>
          <a:xfrm>
            <a:off x="2514600" y="347472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87752" y="347472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Cosmos DB serverless</a:t>
            </a:r>
            <a:endParaRPr lang="en-US" sz="1200" dirty="0"/>
          </a:p>
        </p:txBody>
      </p:sp>
      <p:sp>
        <p:nvSpPr>
          <p:cNvPr id="33" name="chip-2-1"/>
          <p:cNvSpPr/>
          <p:nvPr/>
        </p:nvSpPr>
        <p:spPr>
          <a:xfrm>
            <a:off x="4069080" y="347472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42232" y="347472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 Insights, Log Analytics</a:t>
            </a:r>
            <a:endParaRPr lang="en-US" sz="1200" dirty="0"/>
          </a:p>
        </p:txBody>
      </p:sp>
      <p:sp>
        <p:nvSpPr>
          <p:cNvPr id="35" name="chip-2-2"/>
          <p:cNvSpPr/>
          <p:nvPr/>
        </p:nvSpPr>
        <p:spPr>
          <a:xfrm>
            <a:off x="5623560" y="347472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96712" y="347472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Container Registry</a:t>
            </a:r>
            <a:endParaRPr lang="en-US" sz="1200" dirty="0"/>
          </a:p>
        </p:txBody>
      </p:sp>
      <p:sp>
        <p:nvSpPr>
          <p:cNvPr id="37" name="chip-2-3"/>
          <p:cNvSpPr/>
          <p:nvPr/>
        </p:nvSpPr>
        <p:spPr>
          <a:xfrm>
            <a:off x="7178040" y="347472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51192" y="347472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Cost Management</a:t>
            </a:r>
            <a:endParaRPr lang="en-US" sz="1200" dirty="0"/>
          </a:p>
        </p:txBody>
      </p:sp>
      <p:sp>
        <p:nvSpPr>
          <p:cNvPr id="39" name="cross-band"/>
          <p:cNvSpPr/>
          <p:nvPr/>
        </p:nvSpPr>
        <p:spPr>
          <a:xfrm>
            <a:off x="457200" y="438912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389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Across all layers: Entra ID identity  |  App Insights tracing  |  per-agent token cost in every ticket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Layer 1: Experience</a:t>
            </a:r>
            <a:endParaRPr lang="en-US" sz="2800" dirty="0"/>
          </a:p>
        </p:txBody>
      </p:sp>
      <p:sp>
        <p:nvSpPr>
          <p:cNvPr id="3" name="l1-card-0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laptop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lap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07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portal and live chat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React and Vite, served as static files from Static Web Apps. It holds no secrets and calls one API base URL.</a:t>
            </a:r>
            <a:endParaRPr lang="en-US" sz="1200" dirty="0"/>
          </a:p>
        </p:txBody>
      </p:sp>
      <p:sp>
        <p:nvSpPr>
          <p:cNvPr id="8" name="l1-card-1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shield"/>
          <p:cNvSpPr/>
          <p:nvPr/>
        </p:nvSpPr>
        <p:spPr>
          <a:xfrm>
            <a:off x="484632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shie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4218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07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Sign-in with Entra ID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MSAL gets a token for the backend scope. Every API call carries it, and the backend checks it.</a:t>
            </a:r>
            <a:endParaRPr lang="en-US" sz="1200" dirty="0"/>
          </a:p>
        </p:txBody>
      </p:sp>
      <p:sp>
        <p:nvSpPr>
          <p:cNvPr id="13" name="l1-card-2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mail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mai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1592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Email intake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Logic App watches the mailbox and posts to the API with a shared secret, then replies to the customer.</a:t>
            </a:r>
            <a:endParaRPr lang="en-US" sz="1200" dirty="0"/>
          </a:p>
        </p:txBody>
      </p:sp>
      <p:sp>
        <p:nvSpPr>
          <p:cNvPr id="18" name="l1-card-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chart"/>
          <p:cNvSpPr/>
          <p:nvPr/>
        </p:nvSpPr>
        <p:spPr>
          <a:xfrm>
            <a:off x="4846320" y="30449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char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1592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dashboard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Tickets, the approval queue, analytics, and the cache and KV panels, all reading real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Layer 2: Intelligence</a:t>
            </a:r>
            <a:endParaRPr lang="en-US" sz="2800" dirty="0"/>
          </a:p>
        </p:txBody>
      </p:sp>
      <p:sp>
        <p:nvSpPr>
          <p:cNvPr id="3" name="agent-0"/>
          <p:cNvSpPr/>
          <p:nvPr/>
        </p:nvSpPr>
        <p:spPr>
          <a:xfrm>
            <a:off x="45720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Intake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mini model</a:t>
            </a:r>
            <a:endParaRPr lang="en-US" sz="1100" dirty="0"/>
          </a:p>
        </p:txBody>
      </p:sp>
      <p:sp>
        <p:nvSpPr>
          <p:cNvPr id="6" name="agent-1"/>
          <p:cNvSpPr/>
          <p:nvPr/>
        </p:nvSpPr>
        <p:spPr>
          <a:xfrm>
            <a:off x="164592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Triage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mini model</a:t>
            </a:r>
            <a:endParaRPr lang="en-US" sz="1100" dirty="0"/>
          </a:p>
        </p:txBody>
      </p:sp>
      <p:sp>
        <p:nvSpPr>
          <p:cNvPr id="9" name="agent-2"/>
          <p:cNvSpPr/>
          <p:nvPr/>
        </p:nvSpPr>
        <p:spPr>
          <a:xfrm>
            <a:off x="283464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search, no LLM</a:t>
            </a:r>
            <a:endParaRPr lang="en-US" sz="1100" dirty="0"/>
          </a:p>
        </p:txBody>
      </p:sp>
      <p:sp>
        <p:nvSpPr>
          <p:cNvPr id="12" name="agent-3"/>
          <p:cNvSpPr/>
          <p:nvPr/>
        </p:nvSpPr>
        <p:spPr>
          <a:xfrm>
            <a:off x="402336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Resolver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flagship + tools</a:t>
            </a:r>
            <a:endParaRPr lang="en-US" sz="1100" dirty="0"/>
          </a:p>
        </p:txBody>
      </p:sp>
      <p:sp>
        <p:nvSpPr>
          <p:cNvPr id="15" name="agent-4"/>
          <p:cNvSpPr/>
          <p:nvPr/>
        </p:nvSpPr>
        <p:spPr>
          <a:xfrm>
            <a:off x="521208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Critic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flagship</a:t>
            </a:r>
            <a:endParaRPr lang="en-US" sz="1100" dirty="0"/>
          </a:p>
        </p:txBody>
      </p:sp>
      <p:sp>
        <p:nvSpPr>
          <p:cNvPr id="18" name="agent-5"/>
          <p:cNvSpPr/>
          <p:nvPr/>
        </p:nvSpPr>
        <p:spPr>
          <a:xfrm>
            <a:off x="640080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real backend call</a:t>
            </a:r>
            <a:endParaRPr lang="en-US" sz="1100" dirty="0"/>
          </a:p>
        </p:txBody>
      </p:sp>
      <p:sp>
        <p:nvSpPr>
          <p:cNvPr id="21" name="agent-6"/>
          <p:cNvSpPr/>
          <p:nvPr/>
        </p:nvSpPr>
        <p:spPr>
          <a:xfrm>
            <a:off x="7589520" y="114300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Escalation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hands to human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Purple agents call an Azure OpenAI model. The others are code.</a:t>
            </a:r>
            <a:endParaRPr lang="en-US" sz="1200" dirty="0"/>
          </a:p>
        </p:txBody>
      </p:sp>
      <p:sp>
        <p:nvSpPr>
          <p:cNvPr id="25" name="l2-card-0"/>
          <p:cNvSpPr/>
          <p:nvPr/>
        </p:nvSpPr>
        <p:spPr>
          <a:xfrm>
            <a:off x="45720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2852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orchestrator is code, not an LLM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474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It reads the ticket status, picks the next agent, counts turns and decides when to stop.</a:t>
            </a:r>
            <a:endParaRPr lang="en-US" sz="1200" dirty="0"/>
          </a:p>
        </p:txBody>
      </p:sp>
      <p:sp>
        <p:nvSpPr>
          <p:cNvPr id="28" name="l2-card-1"/>
          <p:cNvSpPr/>
          <p:nvPr/>
        </p:nvSpPr>
        <p:spPr>
          <a:xfrm>
            <a:off x="329184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2852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Cheap model first, strong model last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3474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Intake and triage use the mini model. The resolver and critic use the flagship, where quality matters.</a:t>
            </a:r>
            <a:endParaRPr lang="en-US" sz="1200" dirty="0"/>
          </a:p>
        </p:txBody>
      </p:sp>
      <p:sp>
        <p:nvSpPr>
          <p:cNvPr id="31" name="l2-card-2"/>
          <p:cNvSpPr/>
          <p:nvPr/>
        </p:nvSpPr>
        <p:spPr>
          <a:xfrm>
            <a:off x="612648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9360" y="2852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Only one step touches the real world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474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Action Agent is isolated behind the Critic and the human-approval gate.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Layer 3: Data and operations</a:t>
            </a:r>
            <a:endParaRPr lang="en-US" sz="2800" dirty="0"/>
          </a:p>
        </p:txBody>
      </p:sp>
      <p:sp>
        <p:nvSpPr>
          <p:cNvPr id="3" name="l3-card-0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db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d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07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Cosmos DB, serverless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TicketState is saved after every step, plus an audit container. Serverless bills only for use, which fixed the idle cost of provisioned throughput.</a:t>
            </a:r>
            <a:endParaRPr lang="en-US" sz="1200" dirty="0"/>
          </a:p>
        </p:txBody>
      </p:sp>
      <p:sp>
        <p:nvSpPr>
          <p:cNvPr id="8" name="l3-card-1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search"/>
          <p:cNvSpPr/>
          <p:nvPr/>
        </p:nvSpPr>
        <p:spPr>
          <a:xfrm>
            <a:off x="4846320" y="13075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4218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07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Azure AI Search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Holds the knowledge base as vectors (HNSW index). Retrieval returns a citation and a confidence score.</a:t>
            </a:r>
            <a:endParaRPr lang="en-US" sz="1200" dirty="0"/>
          </a:p>
        </p:txBody>
      </p:sp>
      <p:sp>
        <p:nvSpPr>
          <p:cNvPr id="13" name="l3-card-2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chart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char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1592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 Insights and Log Analytics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OpenTelemetry traces, errors and Azure OpenAI diagnostic logs land in one workspace for KQL queries.</a:t>
            </a:r>
            <a:endParaRPr lang="en-US" sz="1200" dirty="0"/>
          </a:p>
        </p:txBody>
      </p:sp>
      <p:sp>
        <p:nvSpPr>
          <p:cNvPr id="18" name="l3-card-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dollar"/>
          <p:cNvSpPr/>
          <p:nvPr/>
        </p:nvSpPr>
        <p:spPr>
          <a:xfrm>
            <a:off x="4846320" y="304495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dolla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1592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Cost visibility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Per-agent token cost sits in each ticket. Cost Management shows spend per Azure resource.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loop: shared state, hard limits</a:t>
            </a:r>
            <a:endParaRPr lang="en-US" sz="2800" dirty="0"/>
          </a:p>
        </p:txBody>
      </p:sp>
      <p:sp>
        <p:nvSpPr>
          <p:cNvPr id="3" name="loop-step-0"/>
          <p:cNvSpPr/>
          <p:nvPr/>
        </p:nvSpPr>
        <p:spPr>
          <a:xfrm>
            <a:off x="457200" y="1143000"/>
            <a:ext cx="3566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ticket status</a:t>
            </a:r>
            <a:endParaRPr lang="en-US" sz="1400" dirty="0"/>
          </a:p>
        </p:txBody>
      </p:sp>
      <p:sp>
        <p:nvSpPr>
          <p:cNvPr id="5" name="loop-arrow-0"/>
          <p:cNvSpPr/>
          <p:nvPr/>
        </p:nvSpPr>
        <p:spPr>
          <a:xfrm>
            <a:off x="2240280" y="1783080"/>
            <a:ext cx="0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6" name="loop-step-1"/>
          <p:cNvSpPr/>
          <p:nvPr/>
        </p:nvSpPr>
        <p:spPr>
          <a:xfrm>
            <a:off x="457200" y="2011680"/>
            <a:ext cx="3566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the agent for that status</a:t>
            </a:r>
            <a:endParaRPr lang="en-US" sz="1400" dirty="0"/>
          </a:p>
        </p:txBody>
      </p:sp>
      <p:sp>
        <p:nvSpPr>
          <p:cNvPr id="8" name="loop-arrow-1"/>
          <p:cNvSpPr/>
          <p:nvPr/>
        </p:nvSpPr>
        <p:spPr>
          <a:xfrm>
            <a:off x="2240280" y="2651760"/>
            <a:ext cx="0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9" name="loop-step-2"/>
          <p:cNvSpPr/>
          <p:nvPr/>
        </p:nvSpPr>
        <p:spPr>
          <a:xfrm>
            <a:off x="457200" y="2880360"/>
            <a:ext cx="3566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 updates TicketState</a:t>
            </a:r>
            <a:endParaRPr lang="en-US" sz="1400" dirty="0"/>
          </a:p>
        </p:txBody>
      </p:sp>
      <p:sp>
        <p:nvSpPr>
          <p:cNvPr id="11" name="loop-arrow-2"/>
          <p:cNvSpPr/>
          <p:nvPr/>
        </p:nvSpPr>
        <p:spPr>
          <a:xfrm>
            <a:off x="2240280" y="3520440"/>
            <a:ext cx="0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2" name="loop-step-3"/>
          <p:cNvSpPr/>
          <p:nvPr/>
        </p:nvSpPr>
        <p:spPr>
          <a:xfrm>
            <a:off x="457200" y="3749040"/>
            <a:ext cx="35661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Save to Cosmos, log the step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72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Repeat until an exit condition is met</a:t>
            </a:r>
            <a:endParaRPr lang="en-US" sz="1100" dirty="0"/>
          </a:p>
        </p:txBody>
      </p:sp>
      <p:sp>
        <p:nvSpPr>
          <p:cNvPr id="15" name="limit-card"/>
          <p:cNvSpPr/>
          <p:nvPr/>
        </p:nvSpPr>
        <p:spPr>
          <a:xfrm>
            <a:off x="4297680" y="1143000"/>
            <a:ext cx="4389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216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Hard limit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508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max_turns = 6. The orchestrator counts every agent hop, so a stuck ticket cannot loop forever.</a:t>
            </a:r>
            <a:endParaRPr lang="en-US" sz="1300" dirty="0"/>
          </a:p>
        </p:txBody>
      </p:sp>
      <p:sp>
        <p:nvSpPr>
          <p:cNvPr id="18" name="exit-card"/>
          <p:cNvSpPr/>
          <p:nvPr/>
        </p:nvSpPr>
        <p:spPr>
          <a:xfrm>
            <a:off x="4297680" y="2286000"/>
            <a:ext cx="4389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2359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Exit conditions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651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auto-resolved then closed, pending human approval, escalated, or max turns exceeded.</a:t>
            </a:r>
            <a:endParaRPr lang="en-US" sz="1300" dirty="0"/>
          </a:p>
        </p:txBody>
      </p:sp>
      <p:sp>
        <p:nvSpPr>
          <p:cNvPr id="21" name="guard-card"/>
          <p:cNvSpPr/>
          <p:nvPr/>
        </p:nvSpPr>
        <p:spPr>
          <a:xfrm>
            <a:off x="4297680" y="3429000"/>
            <a:ext cx="4389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3502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Guardrails in code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3794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refund without Critic sign-off. RAG confidence under 0.45 goes to a human. Resolver confidence under 0.50 also goes to a human.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Ten components, and the Azure service for each</a:t>
            </a:r>
            <a:endParaRPr lang="en-US" sz="2800" dirty="0"/>
          </a:p>
        </p:txBody>
      </p:sp>
      <p:graphicFrame>
        <p:nvGraphicFramePr>
          <p:cNvPr id="10" name="componen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Open-source option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Azure service we used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React, Next.js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Static Web Apps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RAG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Qdrant, Chroma, pgvector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Azure AI Search + embeddings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Relational DB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PostgreSQL, MySQL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Azure SQL or PostgreSQL (not needed here)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Non-relational DB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MongoDB, Redis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Cosmos DB serverless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LLM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Llama, Mistral via vLLM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Azure OpenAI in Foundry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Monitoring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OpenTelemetry, Langfuse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Insights, Log Analytics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Backend API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FastAPI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Container Apps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OIDC, JWT, Keycloak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Entra ID, RBAC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Deployment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GitHub Actions, Jenkins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az containerapp up, ACR Tasks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Workflow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n8n, Airflow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Logic Apps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production-grade means here</a:t>
            </a:r>
            <a:endParaRPr lang="en-US" sz="2800" dirty="0"/>
          </a:p>
        </p:txBody>
      </p:sp>
      <p:graphicFrame>
        <p:nvGraphicFramePr>
          <p:cNvPr id="11" name="produc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Concern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 this build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Still to do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Identity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Entra ID, token checked on every API call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Managed identity instead of shared keys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Secrets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settings on the Container App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Key Vault references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Scale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 to 10 replicas, min 1 for demos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Load test and autoscale rules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Serverless Cosmos, response cache, per-agent token cost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Budgets and alerts per resource group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Observability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Insights traces, Log Analytics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Dashboards and error-rate alerts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Delivery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az containerapp up and swa deploy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CI/CD pipeline with tests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Safety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Critic, guardrails, human approval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Content Safety and red-team tests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the MVP was built, in order</a:t>
            </a:r>
            <a:endParaRPr lang="en-US" sz="2800" dirty="0"/>
          </a:p>
        </p:txBody>
      </p:sp>
      <p:sp>
        <p:nvSpPr>
          <p:cNvPr id="3" name="seq-card-0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q-num-0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prep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14 articles, 12 issue types</a:t>
            </a:r>
            <a:endParaRPr lang="en-US" sz="1100" dirty="0"/>
          </a:p>
        </p:txBody>
      </p:sp>
      <p:sp>
        <p:nvSpPr>
          <p:cNvPr id="8" name="seq-card-1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q-num-1"/>
          <p:cNvSpPr/>
          <p:nvPr/>
        </p:nvSpPr>
        <p:spPr>
          <a:xfrm>
            <a:off x="269748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RAG layer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AI Search index, embeddings</a:t>
            </a:r>
            <a:endParaRPr lang="en-US" sz="1100" dirty="0"/>
          </a:p>
        </p:txBody>
      </p:sp>
      <p:sp>
        <p:nvSpPr>
          <p:cNvPr id="13" name="seq-card-2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eq-num-2"/>
          <p:cNvSpPr/>
          <p:nvPr/>
        </p:nvSpPr>
        <p:spPr>
          <a:xfrm>
            <a:off x="480060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Single-agent POC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one prompt, one answer</a:t>
            </a:r>
            <a:endParaRPr lang="en-US" sz="1100" dirty="0"/>
          </a:p>
        </p:txBody>
      </p:sp>
      <p:sp>
        <p:nvSpPr>
          <p:cNvPr id="18" name="seq-card-3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q-num-3"/>
          <p:cNvSpPr/>
          <p:nvPr/>
        </p:nvSpPr>
        <p:spPr>
          <a:xfrm>
            <a:off x="690372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Multi-agent split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 agents, TicketState</a:t>
            </a:r>
            <a:endParaRPr lang="en-US" sz="1100" dirty="0"/>
          </a:p>
        </p:txBody>
      </p:sp>
      <p:sp>
        <p:nvSpPr>
          <p:cNvPr id="23" name="seq-card-4"/>
          <p:cNvSpPr/>
          <p:nvPr/>
        </p:nvSpPr>
        <p:spPr>
          <a:xfrm>
            <a:off x="45720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eq-num-4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Action and critic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guardrails, human loop</a:t>
            </a:r>
            <a:endParaRPr lang="en-US" sz="1100" dirty="0"/>
          </a:p>
        </p:txBody>
      </p:sp>
      <p:sp>
        <p:nvSpPr>
          <p:cNvPr id="28" name="seq-card-5"/>
          <p:cNvSpPr/>
          <p:nvPr/>
        </p:nvSpPr>
        <p:spPr>
          <a:xfrm>
            <a:off x="256032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eq-num-5"/>
          <p:cNvSpPr/>
          <p:nvPr/>
        </p:nvSpPr>
        <p:spPr>
          <a:xfrm>
            <a:off x="269748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974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6974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Container Apps, Static Web Apps</a:t>
            </a:r>
            <a:endParaRPr lang="en-US" sz="1100" dirty="0"/>
          </a:p>
        </p:txBody>
      </p:sp>
      <p:sp>
        <p:nvSpPr>
          <p:cNvPr id="33" name="seq-card-6"/>
          <p:cNvSpPr/>
          <p:nvPr/>
        </p:nvSpPr>
        <p:spPr>
          <a:xfrm>
            <a:off x="466344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eq-num-6"/>
          <p:cNvSpPr/>
          <p:nvPr/>
        </p:nvSpPr>
        <p:spPr>
          <a:xfrm>
            <a:off x="480060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 wiring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live tickets and panels</a:t>
            </a:r>
            <a:endParaRPr lang="en-US" sz="1100" dirty="0"/>
          </a:p>
        </p:txBody>
      </p:sp>
      <p:sp>
        <p:nvSpPr>
          <p:cNvPr id="38" name="seq-card-7"/>
          <p:cNvSpPr/>
          <p:nvPr/>
        </p:nvSpPr>
        <p:spPr>
          <a:xfrm>
            <a:off x="676656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eq-num-7"/>
          <p:cNvSpPr/>
          <p:nvPr/>
        </p:nvSpPr>
        <p:spPr>
          <a:xfrm>
            <a:off x="690372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037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Trace and cost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per-agent tokens and dollars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broke in real life</a:t>
            </a:r>
            <a:endParaRPr lang="en-US" sz="2800" dirty="0"/>
          </a:p>
        </p:txBody>
      </p:sp>
      <p:sp>
        <p:nvSpPr>
          <p:cNvPr id="3" name="inc-card-0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bolt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bo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38303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cold start looked like a CORS bug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Scale to zero plus an ingress port of 80 while the app listened on 8000. Nothing reached the code, so no CORS headers came back.</a:t>
            </a:r>
            <a:endParaRPr lang="en-US" sz="1200" dirty="0"/>
          </a:p>
        </p:txBody>
      </p:sp>
      <p:sp>
        <p:nvSpPr>
          <p:cNvPr id="8" name="inc-card-1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server"/>
          <p:cNvSpPr/>
          <p:nvPr/>
        </p:nvSpPr>
        <p:spPr>
          <a:xfrm>
            <a:off x="4846320" y="12801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serv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90" y="138303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deleted database crashed everything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Cosmos connection was made at import time, so one missing resource took down every endpoint.</a:t>
            </a:r>
            <a:endParaRPr lang="en-US" sz="1200" dirty="0"/>
          </a:p>
        </p:txBody>
      </p:sp>
      <p:sp>
        <p:nvSpPr>
          <p:cNvPr id="13" name="inc-card-2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redo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redo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120390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Silent sign-in failed in Brave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popup fallback ran after a delay, so the browser blocked it. A redirect fixed it.</a:t>
            </a:r>
            <a:endParaRPr lang="en-US" sz="1200" dirty="0"/>
          </a:p>
        </p:txBody>
      </p:sp>
      <p:sp>
        <p:nvSpPr>
          <p:cNvPr id="18" name="inc-card-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eye"/>
          <p:cNvSpPr/>
          <p:nvPr/>
        </p:nvSpPr>
        <p:spPr>
          <a:xfrm>
            <a:off x="4846320" y="301752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ey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190" y="3120390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fake success hid real errors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chat showed a made-up answer when a call failed. Errors now look like errors.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cost number comes from</a:t>
            </a:r>
            <a:endParaRPr lang="en-US" sz="2800" dirty="0"/>
          </a:p>
        </p:txBody>
      </p:sp>
      <p:sp>
        <p:nvSpPr>
          <p:cNvPr id="3" name="stat-card"/>
          <p:cNvSpPr/>
          <p:nvPr/>
        </p:nvSpPr>
        <p:spPr>
          <a:xfrm>
            <a:off x="457200" y="1143000"/>
            <a:ext cx="3291840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$0.0047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estimated LLM cost of one real ticket, from its Cosmos document</a:t>
            </a:r>
            <a:endParaRPr lang="en-US" sz="1200" dirty="0"/>
          </a:p>
        </p:txBody>
      </p:sp>
      <p:sp>
        <p:nvSpPr>
          <p:cNvPr id="6" name="formula-card"/>
          <p:cNvSpPr/>
          <p:nvPr/>
        </p:nvSpPr>
        <p:spPr>
          <a:xfrm>
            <a:off x="457200" y="2926080"/>
            <a:ext cx="32918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formula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101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(prompt tokens / 1000 x input price) + (completion tokens / 1000 x output price)</a:t>
            </a:r>
            <a:endParaRPr lang="en-US" sz="1300" dirty="0"/>
          </a:p>
        </p:txBody>
      </p:sp>
      <p:sp>
        <p:nvSpPr>
          <p:cNvPr id="9" name="view-card-0"/>
          <p:cNvSpPr/>
          <p:nvPr/>
        </p:nvSpPr>
        <p:spPr>
          <a:xfrm>
            <a:off x="4023360" y="1143000"/>
            <a:ext cx="4663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own tracer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572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Tokens and dollars per agent, per ticket. Estimated from list prices.</a:t>
            </a:r>
            <a:endParaRPr lang="en-US" sz="1200" dirty="0"/>
          </a:p>
        </p:txBody>
      </p:sp>
      <p:sp>
        <p:nvSpPr>
          <p:cNvPr id="12" name="view-card-1"/>
          <p:cNvSpPr/>
          <p:nvPr/>
        </p:nvSpPr>
        <p:spPr>
          <a:xfrm>
            <a:off x="4023360" y="2286000"/>
            <a:ext cx="4663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Azure Cost Management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715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Billed dollars per resource: Cosmos, Container Apps, Search, OpenAI.</a:t>
            </a:r>
            <a:endParaRPr lang="en-US" sz="1200" dirty="0"/>
          </a:p>
        </p:txBody>
      </p:sp>
      <p:sp>
        <p:nvSpPr>
          <p:cNvPr id="15" name="view-card-2"/>
          <p:cNvSpPr/>
          <p:nvPr/>
        </p:nvSpPr>
        <p:spPr>
          <a:xfrm>
            <a:off x="4023360" y="3429000"/>
            <a:ext cx="4663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 Analytics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Latency, request logs and token counts from Azure OpenAI diagnostics.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572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Each view sees a different slice, so none replaces the others.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Your turn</a:t>
            </a:r>
            <a:endParaRPr lang="en-US" sz="2800" dirty="0"/>
          </a:p>
        </p:txBody>
      </p:sp>
      <p:sp>
        <p:nvSpPr>
          <p:cNvPr id="3" name="take-num-0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Draw your use case as three layers: experience, intelligence, data and operations.</a:t>
            </a:r>
            <a:endParaRPr lang="en-US" sz="1600" dirty="0"/>
          </a:p>
        </p:txBody>
      </p:sp>
      <p:sp>
        <p:nvSpPr>
          <p:cNvPr id="6" name="take-num-1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65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Name the Azure service in every box, and mark which agents truly need a model.</a:t>
            </a:r>
            <a:endParaRPr lang="en-US" sz="1600" dirty="0"/>
          </a:p>
        </p:txBody>
      </p:sp>
      <p:sp>
        <p:nvSpPr>
          <p:cNvPr id="9" name="take-num-2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88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List what is still missing for production, the way slide 10 does.</a:t>
            </a:r>
            <a:endParaRPr lang="en-US" sz="1600" dirty="0"/>
          </a:p>
        </p:txBody>
      </p:sp>
      <p:sp>
        <p:nvSpPr>
          <p:cNvPr id="12" name="take-num-3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Trace the first run before you optimise anything.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DE Azure">
  <a:themeElements>
    <a:clrScheme name="FDE Azure">
      <a:dk1>
        <a:srgbClr val="0F1F3D"/>
      </a:dk1>
      <a:lt1>
        <a:srgbClr val="FFFFFF"/>
      </a:lt1>
      <a:dk2>
        <a:srgbClr val="1B3A6B"/>
      </a:dk2>
      <a:lt2>
        <a:srgbClr val="EDF2F9"/>
      </a:lt2>
      <a:accent1>
        <a:srgbClr val="0078D4"/>
      </a:accent1>
      <a:accent2>
        <a:srgbClr val="F5A524"/>
      </a:accent2>
      <a:accent3>
        <a:srgbClr val="12957F"/>
      </a:accent3>
      <a:accent4>
        <a:srgbClr val="D64545"/>
      </a:accent4>
      <a:accent5>
        <a:srgbClr val="6B5BD6"/>
      </a:accent5>
      <a:accent6>
        <a:srgbClr val="5B6B85"/>
      </a:accent6>
      <a:hlink>
        <a:srgbClr val="0078D4"/>
      </a:hlink>
      <a:folHlink>
        <a:srgbClr val="6B5BD6"/>
      </a:folHlink>
    </a:clrScheme>
    <a:fontScheme name="FDE Az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FDE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Support Desk: MVP to production on Azure</dc:title>
  <dc:subject>PptxGenJS Presentation</dc:subject>
  <dc:creator>Umashankar K H</dc:creator>
  <cp:lastModifiedBy>Umashankar K H</cp:lastModifiedBy>
  <cp:revision>1</cp:revision>
  <dcterms:created xsi:type="dcterms:W3CDTF">2026-10-11T12:01:55Z</dcterms:created>
  <dcterms:modified xsi:type="dcterms:W3CDTF">2026-10-11T12:01:55Z</dcterms:modified>
</cp:coreProperties>
</file>